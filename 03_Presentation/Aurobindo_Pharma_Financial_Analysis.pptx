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8" r:id="rId3"/>
    <p:sldId id="257" r:id="rId4"/>
    <p:sldId id="258" r:id="rId5"/>
    <p:sldId id="270" r:id="rId6"/>
    <p:sldId id="259" r:id="rId7"/>
    <p:sldId id="271" r:id="rId8"/>
    <p:sldId id="260" r:id="rId9"/>
    <p:sldId id="269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1508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1F4E79"/>
                </a:solidFill>
                <a:latin typeface="Aptos"/>
              </a:defRPr>
            </a:pPr>
            <a:r>
              <a:t>Financial Reporting &amp;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402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232323"/>
                </a:solidFill>
                <a:latin typeface="Aptos"/>
              </a:defRPr>
            </a:pPr>
            <a:r>
              <a:t>Aurobindo Pharma Limited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154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6464"/>
                </a:solidFill>
                <a:latin typeface="Aptos"/>
              </a:defRPr>
            </a:pPr>
            <a:r>
              <a:t>Horizontal • Vertical • Trend • Ratio • DuPont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519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32323"/>
                </a:solidFill>
                <a:latin typeface="Aptos"/>
              </a:defRPr>
            </a:pPr>
            <a:r>
              <a:t>Sai Sanjeev Pilli | 2026010296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663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46464"/>
                </a:solidFill>
                <a:latin typeface="Aptos"/>
              </a:defRPr>
            </a:pPr>
            <a:r>
              <a:t>MBA Term-I | GITAM School of Business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84177D-E028-AF68-21B3-BE7A04FE7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DD26EAE-8D8D-31DD-4EFA-16643353DB4A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5C5E1C-2714-EC1D-E1B6-263D68ACB624}"/>
              </a:ext>
            </a:extLst>
          </p:cNvPr>
          <p:cNvSpPr txBox="1"/>
          <p:nvPr/>
        </p:nvSpPr>
        <p:spPr>
          <a:xfrm>
            <a:off x="548640" y="320040"/>
            <a:ext cx="208332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Aptos"/>
              </a:defRPr>
            </a:pPr>
            <a:r>
              <a:rPr dirty="0"/>
              <a:t>1. O</a:t>
            </a:r>
            <a:r>
              <a:rPr lang="en-US" dirty="0"/>
              <a:t>verview</a:t>
            </a: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F4C9210-FA9C-B6F0-5EB0-3E61570BCD2B}"/>
              </a:ext>
            </a:extLst>
          </p:cNvPr>
          <p:cNvSpPr/>
          <p:nvPr/>
        </p:nvSpPr>
        <p:spPr>
          <a:xfrm>
            <a:off x="548640" y="896112"/>
            <a:ext cx="11064240" cy="1371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FCFE96-1ABE-5EFA-A8FF-2E5CEF3D778E}"/>
              </a:ext>
            </a:extLst>
          </p:cNvPr>
          <p:cNvSpPr txBox="1"/>
          <p:nvPr/>
        </p:nvSpPr>
        <p:spPr>
          <a:xfrm>
            <a:off x="731520" y="1234440"/>
            <a:ext cx="10607040" cy="45294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  <a:latin typeface="Aptos"/>
              </a:defRPr>
            </a:pPr>
            <a:r>
              <a:rPr lang="en-IN" sz="2000" dirty="0">
                <a:solidFill>
                  <a:srgbClr val="232323"/>
                </a:solidFill>
                <a:latin typeface="Aptos"/>
              </a:rPr>
              <a:t>Aurobindo Pharma Limited is an integrated global pharmaceutical company headquartered in Hyderabad, India.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Aptos" panose="020B0004020202020204" pitchFamily="34" charset="0"/>
              </a:rPr>
              <a:t>Industry:</a:t>
            </a:r>
            <a:r>
              <a:rPr lang="en-IN" sz="2000" dirty="0">
                <a:latin typeface="Aptos" panose="020B0004020202020204" pitchFamily="34" charset="0"/>
              </a:rPr>
              <a:t> Pharmaceutical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Aptos" panose="020B0004020202020204" pitchFamily="34" charset="0"/>
              </a:rPr>
              <a:t>Founded:</a:t>
            </a:r>
            <a:r>
              <a:rPr lang="en-IN" sz="2000" dirty="0">
                <a:latin typeface="Aptos" panose="020B0004020202020204" pitchFamily="34" charset="0"/>
              </a:rPr>
              <a:t> 1986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Aptos" panose="020B0004020202020204" pitchFamily="34" charset="0"/>
              </a:rPr>
              <a:t>Headquarters:</a:t>
            </a:r>
            <a:r>
              <a:rPr lang="en-IN" sz="2000" dirty="0">
                <a:latin typeface="Aptos" panose="020B0004020202020204" pitchFamily="34" charset="0"/>
              </a:rPr>
              <a:t> Hyderabad, Telangana, India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Aptos" panose="020B0004020202020204" pitchFamily="34" charset="0"/>
              </a:rPr>
              <a:t>Business:</a:t>
            </a:r>
            <a:r>
              <a:rPr lang="en-IN" sz="2000" dirty="0">
                <a:latin typeface="Aptos" panose="020B0004020202020204" pitchFamily="34" charset="0"/>
              </a:rPr>
              <a:t> Development, manufacturing and commercialization of generic pharmaceuticals, specialty products, APIs and other pharmaceutical products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Aptos" panose="020B0004020202020204" pitchFamily="34" charset="0"/>
              </a:rPr>
              <a:t>Global Presence:</a:t>
            </a:r>
            <a:r>
              <a:rPr lang="en-IN" sz="2000" dirty="0">
                <a:latin typeface="Aptos" panose="020B0004020202020204" pitchFamily="34" charset="0"/>
              </a:rPr>
              <a:t> Products and operations across 150+ countries/markets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Aptos" panose="020B0004020202020204" pitchFamily="34" charset="0"/>
              </a:rPr>
              <a:t>Key Therapeutic Areas:</a:t>
            </a:r>
            <a:r>
              <a:rPr lang="en-IN" sz="2000" dirty="0">
                <a:latin typeface="Aptos" panose="020B0004020202020204" pitchFamily="34" charset="0"/>
              </a:rPr>
              <a:t> CNS, cardiovascular, anti-retroviral, anti-diabetic,  and other segments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000" b="1" dirty="0">
                <a:latin typeface="Aptos" panose="020B0004020202020204" pitchFamily="34" charset="0"/>
              </a:rPr>
              <a:t>R&amp;D Focus:</a:t>
            </a:r>
            <a:r>
              <a:rPr lang="en-IN" sz="2000" dirty="0">
                <a:latin typeface="Aptos" panose="020B0004020202020204" pitchFamily="34" charset="0"/>
              </a:rPr>
              <a:t> Strong in-house R&amp;D capabilities supporting product development and regulatory filings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endParaRPr lang="en-IN" sz="2000" dirty="0">
              <a:latin typeface="Aptos" panose="020B0004020202020204" pitchFamily="34" charset="0"/>
            </a:endParaRP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  <a:latin typeface="Aptos"/>
              </a:defRPr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038764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391773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Aptos"/>
              </a:defRPr>
            </a:pPr>
            <a:r>
              <a:rPr lang="en-IN" dirty="0"/>
              <a:t>2</a:t>
            </a:r>
            <a:r>
              <a:rPr dirty="0"/>
              <a:t>. Objective and Scope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96112"/>
            <a:ext cx="11064240" cy="1371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607040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  <a:latin typeface="Aptos"/>
              </a:defRPr>
            </a:pPr>
            <a:r>
              <a:rPr dirty="0"/>
              <a:t>• Study the financial performance of Aurobindo Pharma</a:t>
            </a:r>
            <a:r>
              <a:rPr lang="en-US" dirty="0"/>
              <a:t> Ltd</a:t>
            </a:r>
            <a:r>
              <a:rPr dirty="0"/>
              <a:t>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  <a:latin typeface="Aptos"/>
              </a:defRPr>
            </a:pPr>
            <a:r>
              <a:rPr dirty="0"/>
              <a:t>• Period covered: FY2015 to FY2026.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  <a:latin typeface="Aptos"/>
              </a:defRPr>
            </a:pPr>
            <a:r>
              <a:rPr dirty="0"/>
              <a:t>• Use financial statements to understand growth, profitability, liquidity, solvency and efficiency.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  <a:latin typeface="Aptos"/>
              </a:defRPr>
            </a:pPr>
            <a:r>
              <a:rPr dirty="0"/>
              <a:t>• Apply five techniques: Horizontal, Vertical, Trend, Ratio and DuPont Analysis.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7057701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Aptos"/>
              </a:defRPr>
            </a:pPr>
            <a:r>
              <a:rPr lang="en-IN" dirty="0"/>
              <a:t>3</a:t>
            </a:r>
            <a:r>
              <a:rPr dirty="0"/>
              <a:t>. Horizontal Analysis</a:t>
            </a:r>
            <a:r>
              <a:rPr lang="en-IN" dirty="0"/>
              <a:t> – Income Statement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548640" y="896112"/>
            <a:ext cx="11064240" cy="1371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78992"/>
            <a:ext cx="105156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6464"/>
                </a:solidFill>
                <a:latin typeface="Aptos"/>
              </a:defRPr>
            </a:pPr>
            <a:r>
              <a:rPr dirty="0"/>
              <a:t>Compares financial figures over time.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083B3E4-F837-63B1-3671-440D0E1727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71321"/>
            <a:ext cx="12192000" cy="273520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E58838-89DA-32E4-7ACA-75572652A1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1AE43B9-29E0-3F1A-AED5-A6A67CE89071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399132-28B2-4A1E-04B0-13C07CEB4845}"/>
              </a:ext>
            </a:extLst>
          </p:cNvPr>
          <p:cNvSpPr txBox="1"/>
          <p:nvPr/>
        </p:nvSpPr>
        <p:spPr>
          <a:xfrm>
            <a:off x="548640" y="320040"/>
            <a:ext cx="638418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Aptos"/>
              </a:defRPr>
            </a:pPr>
            <a:r>
              <a:rPr lang="en-IN" dirty="0"/>
              <a:t>3</a:t>
            </a:r>
            <a:r>
              <a:rPr dirty="0"/>
              <a:t>. Horizontal Analysis</a:t>
            </a:r>
            <a:r>
              <a:rPr lang="en-IN" dirty="0"/>
              <a:t> – Balance Sheet</a:t>
            </a: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D43F603-E48E-A106-B0CB-327114D735CA}"/>
              </a:ext>
            </a:extLst>
          </p:cNvPr>
          <p:cNvSpPr/>
          <p:nvPr/>
        </p:nvSpPr>
        <p:spPr>
          <a:xfrm>
            <a:off x="548640" y="896112"/>
            <a:ext cx="11064240" cy="1371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614F38-F3EC-3B68-2471-FB9FF67BD2C3}"/>
              </a:ext>
            </a:extLst>
          </p:cNvPr>
          <p:cNvSpPr txBox="1"/>
          <p:nvPr/>
        </p:nvSpPr>
        <p:spPr>
          <a:xfrm>
            <a:off x="731520" y="1078992"/>
            <a:ext cx="10515600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6464"/>
                </a:solidFill>
                <a:latin typeface="Aptos"/>
              </a:defRPr>
            </a:pPr>
            <a:r>
              <a:rPr dirty="0"/>
              <a:t>Compares financial figures over time.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00C890-5D8A-0074-F19F-438EF4BB99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832" y="1470738"/>
            <a:ext cx="12192000" cy="30088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4401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661585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Aptos"/>
              </a:defRPr>
            </a:pPr>
            <a:r>
              <a:rPr lang="en-IN" dirty="0"/>
              <a:t>4</a:t>
            </a:r>
            <a:r>
              <a:rPr dirty="0"/>
              <a:t>. Vertical Analysis</a:t>
            </a:r>
            <a:r>
              <a:rPr lang="en-IN" dirty="0"/>
              <a:t> – Income Statement</a:t>
            </a:r>
            <a:endParaRPr dirty="0"/>
          </a:p>
        </p:txBody>
      </p:sp>
      <p:sp>
        <p:nvSpPr>
          <p:cNvPr id="4" name="Rectangle 3"/>
          <p:cNvSpPr/>
          <p:nvPr/>
        </p:nvSpPr>
        <p:spPr>
          <a:xfrm>
            <a:off x="548640" y="896112"/>
            <a:ext cx="11064240" cy="1371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7899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6464"/>
                </a:solidFill>
                <a:latin typeface="Aptos"/>
              </a:defRPr>
            </a:pPr>
            <a:r>
              <a:rPr dirty="0"/>
              <a:t>Shows each item as a percentage of a common base.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3C5B7D5-DAF2-53D8-3702-69D3DE85F8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9372"/>
            <a:ext cx="8687553" cy="261631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16D9A-EF29-3BC0-79CF-2567C1186A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8A68ABF-8700-27DB-15F4-D743924A5EA6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02AD61-4F16-BCD4-580C-36D3905CAC59}"/>
              </a:ext>
            </a:extLst>
          </p:cNvPr>
          <p:cNvSpPr txBox="1"/>
          <p:nvPr/>
        </p:nvSpPr>
        <p:spPr>
          <a:xfrm>
            <a:off x="548640" y="320040"/>
            <a:ext cx="5942332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Aptos"/>
              </a:defRPr>
            </a:pPr>
            <a:r>
              <a:rPr lang="en-IN" dirty="0"/>
              <a:t>4</a:t>
            </a:r>
            <a:r>
              <a:rPr dirty="0"/>
              <a:t>. Vertical Analysis</a:t>
            </a:r>
            <a:r>
              <a:rPr lang="en-IN" dirty="0"/>
              <a:t> – Balance Sheet</a:t>
            </a: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3D7D2F4-4813-3F5E-949E-F3D8D0FFC3E2}"/>
              </a:ext>
            </a:extLst>
          </p:cNvPr>
          <p:cNvSpPr/>
          <p:nvPr/>
        </p:nvSpPr>
        <p:spPr>
          <a:xfrm>
            <a:off x="548640" y="896112"/>
            <a:ext cx="11064240" cy="1371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2C7FD28-6C9E-6026-C3B1-CE1587CD4FC6}"/>
              </a:ext>
            </a:extLst>
          </p:cNvPr>
          <p:cNvSpPr txBox="1"/>
          <p:nvPr/>
        </p:nvSpPr>
        <p:spPr>
          <a:xfrm>
            <a:off x="731520" y="107899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6464"/>
                </a:solidFill>
                <a:latin typeface="Aptos"/>
              </a:defRPr>
            </a:pPr>
            <a:r>
              <a:rPr dirty="0"/>
              <a:t>Shows each item as a percentage of a common base.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55F6446-D604-C614-6EDA-9EAF81634E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9372"/>
            <a:ext cx="8702794" cy="3137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8520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48640" y="320040"/>
            <a:ext cx="292349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Aptos"/>
              </a:defRPr>
            </a:pPr>
            <a:r>
              <a:rPr lang="en-IN" dirty="0"/>
              <a:t>5</a:t>
            </a:r>
            <a:r>
              <a:rPr dirty="0"/>
              <a:t>. Trend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96112"/>
            <a:ext cx="11064240" cy="1371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7899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646464"/>
                </a:solidFill>
                <a:latin typeface="Aptos"/>
              </a:defRPr>
            </a:pPr>
            <a:r>
              <a:t>FY2015 is taken as the base year = 100.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5549822"/>
              </p:ext>
            </p:extLst>
          </p:nvPr>
        </p:nvGraphicFramePr>
        <p:xfrm>
          <a:off x="165311" y="1607574"/>
          <a:ext cx="5698776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95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95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995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6794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dirty="0"/>
                        <a:t>Particulars</a:t>
                      </a:r>
                    </a:p>
                  </a:txBody>
                  <a:tcP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dirty="0"/>
                        <a:t>FY2015</a:t>
                      </a:r>
                    </a:p>
                  </a:txBody>
                  <a:tcP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dirty="0"/>
                        <a:t>FY2026</a:t>
                      </a:r>
                    </a:p>
                  </a:txBody>
                  <a:tcPr>
                    <a:solidFill>
                      <a:schemeClr val="bg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794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Sales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278.06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794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Operating Profit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266.38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794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Net Profit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222.98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794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Total Assets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dirty="0"/>
                        <a:t>450.78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6794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Reserves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737.92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6796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Borrowings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100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dirty="0"/>
                        <a:t>181.37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327915" y="4407408"/>
            <a:ext cx="3429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rPr dirty="0"/>
              <a:t>• Sales almost tripled from the base year.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rPr dirty="0"/>
              <a:t>• Assets increased much faster than sales.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rPr dirty="0"/>
              <a:t>• Reserves showed the largest increase.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rPr dirty="0"/>
              <a:t>• Borrowings increased, but much less than reserves.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A1F8B38-F668-7D1F-9126-8F52095DCF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0" y="998410"/>
            <a:ext cx="5659918" cy="31784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11C016-51E7-2A6E-339C-293383DF42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67D5EEA-76BF-CA82-52C8-F21E7ACE8854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052722-21AA-30E5-80B5-85A9DDA12139}"/>
              </a:ext>
            </a:extLst>
          </p:cNvPr>
          <p:cNvSpPr txBox="1"/>
          <p:nvPr/>
        </p:nvSpPr>
        <p:spPr>
          <a:xfrm>
            <a:off x="548640" y="320040"/>
            <a:ext cx="4661148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Aptos"/>
              </a:defRPr>
            </a:pPr>
            <a:r>
              <a:rPr lang="en-IN" dirty="0"/>
              <a:t>6</a:t>
            </a:r>
            <a:r>
              <a:rPr dirty="0"/>
              <a:t>. Ratio Analysis – Liquidity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12AAB2-9F28-4A19-08DC-AA3AE4A6C825}"/>
              </a:ext>
            </a:extLst>
          </p:cNvPr>
          <p:cNvSpPr/>
          <p:nvPr/>
        </p:nvSpPr>
        <p:spPr>
          <a:xfrm>
            <a:off x="548640" y="896112"/>
            <a:ext cx="11064240" cy="1371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167E81B-C28D-B579-21DA-A053CF6683C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3751636"/>
              </p:ext>
            </p:extLst>
          </p:nvPr>
        </p:nvGraphicFramePr>
        <p:xfrm>
          <a:off x="548640" y="1400195"/>
          <a:ext cx="50292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dirty="0"/>
                        <a:t>Ratio</a:t>
                      </a:r>
                    </a:p>
                  </a:txBody>
                  <a:tcP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dirty="0"/>
                        <a:t>FY2015</a:t>
                      </a:r>
                    </a:p>
                  </a:txBody>
                  <a:tcP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dirty="0"/>
                        <a:t>FY2026</a:t>
                      </a:r>
                    </a:p>
                  </a:txBody>
                  <a:tcPr>
                    <a:solidFill>
                      <a:schemeClr val="bg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dirty="0"/>
                        <a:t>Current Ratio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2.65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2.82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Quick Ratio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1.56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dirty="0"/>
                        <a:t>1.84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FE81EF71-4DF9-B374-542E-98C64D1BD393}"/>
              </a:ext>
            </a:extLst>
          </p:cNvPr>
          <p:cNvSpPr txBox="1"/>
          <p:nvPr/>
        </p:nvSpPr>
        <p:spPr>
          <a:xfrm>
            <a:off x="6080760" y="3075418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rPr dirty="0"/>
              <a:t>• Liquidity ratios stayed above 1.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rPr dirty="0"/>
              <a:t>• This indicates current assets were higher than current liabilities.</a:t>
            </a:r>
          </a:p>
        </p:txBody>
      </p:sp>
    </p:spTree>
    <p:extLst>
      <p:ext uri="{BB962C8B-B14F-4D97-AF65-F5344CB8AC3E}">
        <p14:creationId xmlns:p14="http://schemas.microsoft.com/office/powerpoint/2010/main" val="21291286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4735335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Aptos"/>
              </a:defRPr>
            </a:pPr>
            <a:r>
              <a:rPr lang="en-IN" dirty="0"/>
              <a:t>6</a:t>
            </a:r>
            <a:r>
              <a:rPr dirty="0"/>
              <a:t>. Ratio Analysis – Solvency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96112"/>
            <a:ext cx="11064240" cy="1371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0855484"/>
              </p:ext>
            </p:extLst>
          </p:nvPr>
        </p:nvGraphicFramePr>
        <p:xfrm>
          <a:off x="672527" y="1460754"/>
          <a:ext cx="50292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dirty="0"/>
                        <a:t>Ratio</a:t>
                      </a:r>
                    </a:p>
                  </a:txBody>
                  <a:tcP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dirty="0"/>
                        <a:t>FY2015</a:t>
                      </a:r>
                    </a:p>
                  </a:txBody>
                  <a:tcP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dirty="0"/>
                        <a:t>FY2026</a:t>
                      </a:r>
                    </a:p>
                  </a:txBody>
                  <a:tcPr>
                    <a:solidFill>
                      <a:schemeClr val="bg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dirty="0"/>
                        <a:t>Debt-Equity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0.86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dirty="0"/>
                        <a:t>0.21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Debt-to-Assets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34.48%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dirty="0"/>
                        <a:t>13.87%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095847" y="3122716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rPr dirty="0"/>
              <a:t>• Relative leverage declined over the period.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rPr dirty="0"/>
              <a:t>• Borrowings formed a smaller share of assets.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5085879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Aptos"/>
              </a:defRPr>
            </a:pPr>
            <a:r>
              <a:rPr lang="en-IN" dirty="0"/>
              <a:t>7</a:t>
            </a:r>
            <a:r>
              <a:rPr dirty="0"/>
              <a:t>. Ratio Analysis – Profitability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96112"/>
            <a:ext cx="11064240" cy="1371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4701170"/>
              </p:ext>
            </p:extLst>
          </p:nvPr>
        </p:nvGraphicFramePr>
        <p:xfrm>
          <a:off x="731520" y="1325880"/>
          <a:ext cx="71323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dirty="0"/>
                        <a:t>Ratio</a:t>
                      </a:r>
                    </a:p>
                  </a:txBody>
                  <a:tcP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dirty="0"/>
                        <a:t>Earlier level</a:t>
                      </a:r>
                    </a:p>
                  </a:txBody>
                  <a:tcP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dirty="0"/>
                        <a:t>FY2026</a:t>
                      </a:r>
                    </a:p>
                  </a:txBody>
                  <a:tcPr>
                    <a:solidFill>
                      <a:schemeClr val="bg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Operating Profit Margin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21.31%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20.41%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Net Profit Margin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12.98%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10.41%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ROE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dirty="0"/>
                        <a:t>32.53%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9.93%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ROA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dirty="0"/>
                        <a:t>14.05%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dirty="0"/>
                        <a:t>6.51%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0" y="141732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Operating margin recovered after the FY2023 decline.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Net margin in FY2026 was 10.41%.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ROE and ROA were lower in the later years.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FY2021 was unusually high and should be viewed separately.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6421630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Aptos"/>
              </a:defRPr>
            </a:pPr>
            <a:r>
              <a:rPr lang="en-IN" dirty="0"/>
              <a:t>8</a:t>
            </a:r>
            <a:r>
              <a:rPr dirty="0"/>
              <a:t>. Ratio Analysis – Turnover &amp; Earnings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96112"/>
            <a:ext cx="11064240" cy="1371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8598787"/>
              </p:ext>
            </p:extLst>
          </p:nvPr>
        </p:nvGraphicFramePr>
        <p:xfrm>
          <a:off x="731520" y="1417320"/>
          <a:ext cx="7132320" cy="2423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579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dirty="0"/>
                        <a:t>Measure</a:t>
                      </a:r>
                    </a:p>
                  </a:txBody>
                  <a:tcP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dirty="0"/>
                        <a:t>Earlier level</a:t>
                      </a:r>
                    </a:p>
                  </a:txBody>
                  <a:tcP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dirty="0"/>
                        <a:t>FY2026</a:t>
                      </a:r>
                    </a:p>
                  </a:txBody>
                  <a:tcPr>
                    <a:solidFill>
                      <a:schemeClr val="bg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Asset Turnover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dirty="0"/>
                        <a:t>0.96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dirty="0"/>
                        <a:t>0.63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Receivables Turnover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dirty="0"/>
                        <a:t>3.38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dirty="0"/>
                        <a:t>5.24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EPS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₹26.98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dirty="0"/>
                        <a:t>₹60.34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0" y="1417320"/>
            <a:ext cx="3017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Asset turnover declined, meaning assets generated less sales per unit.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Receivables turnover remained above the beginning level.</a:t>
            </a:r>
          </a:p>
          <a:p>
            <a:pPr>
              <a:spcAft>
                <a:spcPts val="1000"/>
              </a:spcAft>
              <a:defRPr sz="1500">
                <a:solidFill>
                  <a:srgbClr val="232323"/>
                </a:solidFill>
                <a:latin typeface="Aptos"/>
              </a:defRPr>
            </a:pPr>
            <a:r>
              <a:t>• EPS increased over the full period.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3220497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Aptos"/>
              </a:defRPr>
            </a:pPr>
            <a:r>
              <a:rPr lang="en-IN" dirty="0"/>
              <a:t>9</a:t>
            </a:r>
            <a:r>
              <a:rPr dirty="0"/>
              <a:t>. DuPont Analysis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96112"/>
            <a:ext cx="11064240" cy="1371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46464"/>
                </a:solidFill>
                <a:latin typeface="Aptos"/>
              </a:defRPr>
            </a:pPr>
            <a:r>
              <a:t>DuPont explains ROE using three factors: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300" b="1">
                <a:solidFill>
                  <a:srgbClr val="1F4E79"/>
                </a:solidFill>
                <a:latin typeface="Aptos"/>
              </a:defRPr>
            </a:pPr>
            <a:r>
              <a:t>ROE = Net Profit Margin × Asset Turnover × Equity Multiplier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7864753"/>
              </p:ext>
            </p:extLst>
          </p:nvPr>
        </p:nvGraphicFramePr>
        <p:xfrm>
          <a:off x="914400" y="2514600"/>
          <a:ext cx="1033272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665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665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65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665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665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57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dirty="0"/>
                        <a:t>Year</a:t>
                      </a:r>
                    </a:p>
                  </a:txBody>
                  <a:tcP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dirty="0"/>
                        <a:t>Net Profit Margin</a:t>
                      </a:r>
                    </a:p>
                  </a:txBody>
                  <a:tcP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dirty="0"/>
                        <a:t>Asset Turnover</a:t>
                      </a:r>
                    </a:p>
                  </a:txBody>
                  <a:tcP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dirty="0"/>
                        <a:t>Equity Multiplier</a:t>
                      </a:r>
                    </a:p>
                  </a:txBody>
                  <a:tcPr>
                    <a:solidFill>
                      <a:schemeClr val="bg2">
                        <a:lumMod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rPr dirty="0"/>
                        <a:t>ROE</a:t>
                      </a:r>
                    </a:p>
                  </a:txBody>
                  <a:tcPr>
                    <a:solidFill>
                      <a:schemeClr val="bg2">
                        <a:lumMod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FY2024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10.93%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dirty="0"/>
                        <a:t>0.69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dirty="0"/>
                        <a:t>1.49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11.18%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FY2025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10.98%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dirty="0"/>
                        <a:t>0.67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dirty="0"/>
                        <a:t>1.51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11.15%</a:t>
                      </a:r>
                    </a:p>
                  </a:txBody>
                  <a:tcPr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5780"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FY2026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t>10.41%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dirty="0"/>
                        <a:t>0.63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dirty="0"/>
                        <a:t>1.53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32323"/>
                          </a:solidFill>
                          <a:latin typeface="Aptos"/>
                        </a:defRPr>
                      </a:pPr>
                      <a:r>
                        <a:rPr dirty="0"/>
                        <a:t>9.93%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2796343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Aptos"/>
              </a:defRPr>
            </a:pPr>
            <a:r>
              <a:rPr lang="en-IN" dirty="0"/>
              <a:t>10</a:t>
            </a:r>
            <a:r>
              <a:rPr dirty="0"/>
              <a:t>. Key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96112"/>
            <a:ext cx="11064240" cy="1371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23444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• Sales and profits increased over the long term.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• The company expanded its asset base significantly.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• Liquidity remained comfortable.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• Relative leverage decreased.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• Profitability fluctuated, especially around FY2021 and FY2023.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• Asset turnover declined in the later years.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• EPS increased over the full study period.</a:t>
            </a:r>
          </a:p>
          <a:p>
            <a:pPr>
              <a:spcAft>
                <a:spcPts val="1000"/>
              </a:spcAft>
              <a:defRPr sz="1800">
                <a:solidFill>
                  <a:srgbClr val="232323"/>
                </a:solidFill>
                <a:latin typeface="Aptos"/>
              </a:defRPr>
            </a:pPr>
            <a:r>
              <a:t>• DuPont shows that FY2026 ROE was 9.93%, driven by margin, asset turnover and equity multiplier.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2624436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Aptos"/>
              </a:defRPr>
            </a:pPr>
            <a:r>
              <a:rPr dirty="0"/>
              <a:t>1</a:t>
            </a:r>
            <a:r>
              <a:rPr lang="en-IN" dirty="0"/>
              <a:t>1</a:t>
            </a:r>
            <a:r>
              <a:rPr dirty="0"/>
              <a:t>.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896112"/>
            <a:ext cx="11064240" cy="13716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777240" y="1280160"/>
            <a:ext cx="105156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  <a:latin typeface="Aptos"/>
              </a:defRPr>
            </a:pPr>
            <a:r>
              <a:t>• Aurobindo Pharma showed strong long-term growth in sales, profits and assets.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  <a:latin typeface="Aptos"/>
              </a:defRPr>
            </a:pPr>
            <a:r>
              <a:t>• The financial position remained supported by good liquidity and lower relative leverage.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  <a:latin typeface="Aptos"/>
              </a:defRPr>
            </a:pPr>
            <a:r>
              <a:t>• The main area to monitor is the relationship between the growing asset base and the returns generated from it.</a:t>
            </a:r>
          </a:p>
          <a:p>
            <a:pPr>
              <a:spcAft>
                <a:spcPts val="1000"/>
              </a:spcAft>
              <a:defRPr sz="2000">
                <a:solidFill>
                  <a:srgbClr val="232323"/>
                </a:solidFill>
                <a:latin typeface="Aptos"/>
              </a:defRPr>
            </a:pPr>
            <a:r>
              <a:t>• The analysis is based on historical financial information for FY2015–FY2026.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224028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F4E79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0632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46464"/>
                </a:solidFill>
                <a:latin typeface="Aptos"/>
              </a:defRPr>
            </a:pPr>
            <a:r>
              <a:t>Aurobindo Pharma Limited – Financial Reporting &amp;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7947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232323"/>
                </a:solidFill>
                <a:latin typeface="Aptos"/>
              </a:defRPr>
            </a:pPr>
            <a:r>
              <a:t>Sai Sanjeev Pilli | 2026010296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666</TotalTime>
  <Words>724</Words>
  <Application>Microsoft Office PowerPoint</Application>
  <PresentationFormat>Widescreen</PresentationFormat>
  <Paragraphs>154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SAI SANJEEV PILLI .</cp:lastModifiedBy>
  <cp:revision>21</cp:revision>
  <dcterms:created xsi:type="dcterms:W3CDTF">2013-01-27T09:14:16Z</dcterms:created>
  <dcterms:modified xsi:type="dcterms:W3CDTF">2026-09-24T16:54:04Z</dcterms:modified>
  <cp:category/>
</cp:coreProperties>
</file>